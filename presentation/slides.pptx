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3327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400" b="1">
                <a:solidFill>
                  <a:srgbClr val="00F2FE"/>
                </a:solidFill>
              </a:defRPr>
            </a:pPr>
            <a:r>
              <a:t>NexusSupply AI</a:t>
            </a:r>
          </a:p>
          <a:p>
            <a:pPr>
              <a:defRPr sz="2200">
                <a:solidFill>
                  <a:srgbClr val="FFFFFF"/>
                </a:solidFill>
              </a:defRPr>
            </a:pPr>
            <a:r>
              <a:t>Autonomous Supply Chain Disruption Assistant &amp; Fleet Utilisation Optimizer</a:t>
            </a:r>
          </a:p>
          <a:p>
            <a:pPr>
              <a:defRPr sz="1600">
                <a:solidFill>
                  <a:srgbClr val="0F62FE"/>
                </a:solidFill>
              </a:defRPr>
            </a:pPr>
            <a:r>
              <a:t>IBM BoB Hackathon 2026 • Track: AI • Team: Orion Squad</a:t>
            </a:r>
          </a:p>
          <a:p>
            <a:br/>
            <a:pPr>
              <a:defRPr sz="1400">
                <a:solidFill>
                  <a:srgbClr val="94A3B8"/>
                </a:solidFill>
              </a:defRPr>
            </a:pPr>
            <a:r>
              <a:t>Real-Time Disruption Geofencing • Multi-Modal Carrier Rerouting</a:t>
            </a:r>
            <a:br/>
            <a:r>
              <a:t>Arrhenius MKT Cold-Chain Regulatory Sentinel • Idle Fleet Redeployment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Problem: Cascading Logistics Chaos &amp; Cold-Chain Spoilage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Critical Vulnerabilities Facing Modern Global Supply Chains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Cascading Choke Point Disruptions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Geopolitical crises (Red Sea) &amp; strikes (Rotterdam) delay hundreds of shipments simultaneously.</a:t>
            </a:r>
            <a:br/>
            <a:r>
              <a:t>• Operations controllers are blind to cascading ETA slippage across complex multi-echelon networks.</a:t>
            </a:r>
            <a:br/>
            <a:r>
              <a:t>• Average delay: +10 to +14 days per affected corridor.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59E0B"/>
                </a:solidFill>
              </a:defRPr>
            </a:pPr>
            <a:r>
              <a:t>Idle Fleet Capital Drain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High-spec 40ft reefers, dry vans, and trucks sit idle in container yards (&gt;48h dwell time).</a:t>
            </a:r>
            <a:br/>
            <a:r>
              <a:t>• Demurrage &amp; detention costs bleed $350-$650/day per idle unit while other trade lanes are starved.</a:t>
            </a:r>
            <a:br/>
            <a:r>
              <a:t>• Lack of proximity intelligence prevents timely redeployment.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$35B+ Cold-Chain Spoilage Loss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• Biologics &amp; mRNA vaccines degrade outside 2°C–8°C safe zones (Arrhenius denaturation).</a:t>
            </a:r>
            <a:br/>
            <a:r>
              <a:t>• Temperature excursions are only discovered at delivery — when $500K+ cargo is already spoiled.</a:t>
            </a:r>
            <a:br/>
            <a:r>
              <a:t>• Zero pre-delivery quarantine intervention leads to clinical patient safety risks.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The Solution: NexusSupply AI Architecture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Autonomous Intelligence from Telemetry to Action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10698480" cy="91440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1. Disruption Radar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Continuous Haversine geofencing computes route intersections with active conflict &amp; weather zones. Instant blast-radius risk exposure ($M).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10698480" cy="91440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01752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2. Dynamic Re-Routing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Multi-modal optimization balances cost delta ($), transit days saved, and carbon footprint (tCO2) across ocean bypasses, air charters, and rail.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10698480" cy="91440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3. Cold Chain Sentinel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Scientific Arrhenius MKT calculations model protein denaturation. Pre-delivery FDA 21 CFR Part 211 quarantine stops spoiled drugs before patient delivery.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5120640"/>
            <a:ext cx="10698480" cy="91440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5212080"/>
            <a:ext cx="10332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0F2FE"/>
                </a:solidFill>
              </a:defRPr>
            </a:pPr>
            <a:r>
              <a:t>4. Fleet Optimizer &amp; BoB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Haversine proximity matching identifies idle reefers in nearby depots and executes emergency salvage redeployments via conversational AI.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Technical Architecture &amp; Data Pipeline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High-Throughput Non-Blocking Python FastAPI + Glassmorphic UI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Modular Component Overview: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FastAPI Gateway (Port 8000): High-performance asynchronous REST backend serving endpoints for disruptions, routing, fleet telematics, and static assets.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Scientific Kinetics Engine: Applies the Arrhenius degradation model (ΔH = 83.144 kJ/mol, R = 8.314 J/mol·K) to IoT time-series data to calculate cumulative degree-hours.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Geospatial Geofencing Service: Computes great-circle distances between vessel/truck coordinate vectors and dynamic disruption event radii.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IBM BoB Copilot Connector: Dual-mode connector supporting live IBM Cloud watsonx.ai Granite 3.0 inference with offline deterministic fallback.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Cyber-Industrial Command UI: Dark-theme single-page application built with Leaflet.js trade lane mapping and real-time Chart.js telemetry curves.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Deep Dive: Cold-Chain Arrhenius MKT Sentinel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FDA 21 CFR Part 211 &amp; WHO PQS Pre-Delivery Quarantine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31C31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Arrhenius Degradation Modeling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Naive Average: Averages (4°C, 4°C, 16°C) as 8°C (appears safe).</a:t>
            </a:r>
            <a:br/>
            <a:br/>
            <a:r>
              <a:t>• Arrhenius MKT Formula:</a:t>
            </a:r>
            <a:br/>
            <a:r>
              <a:t>  Tk = (ΔH / R) / [ -ln ( (1/n) * Σ exp(-ΔH / R*Ti) ) ]</a:t>
            </a:r>
            <a:br/>
            <a:r>
              <a:t>  where ΔH = 83.144 kJ/mol (USP &lt;1079&gt; standard).</a:t>
            </a:r>
            <a:br/>
            <a:br/>
            <a:r>
              <a:t>• Exponential Thermal Damage: MKT calculates real effective degradation as 14.8°C — capturing irreversible protein denaturation!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31C31"/>
          </a:solidFill>
          <a:ln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EF4444"/>
                </a:solidFill>
              </a:defRPr>
            </a:pPr>
            <a:r>
              <a:t>Automated Regulatory Enforcement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• Pre-Delivery Alerting: Breaches trigger instant alerts WHILE CARGO IS IN TRANSIT, not days later at the clinic.</a:t>
            </a:r>
            <a:br/>
            <a:br/>
            <a:r>
              <a:t>• Severity Classification: FDA Level 1 (Minor), Level 2 (Moderate), Level 3 (Critical Quarantine).</a:t>
            </a:r>
            <a:br/>
            <a:br/>
            <a:r>
              <a:t>• Corrective Action Protocol (CAPA):</a:t>
            </a:r>
            <a:br/>
            <a:r>
              <a:t>  1. Enforces border quarantine hold.</a:t>
            </a:r>
            <a:br/>
            <a:r>
              <a:t>  2. Pairs nearest idle reefer from Antwerp / Dubai.</a:t>
            </a:r>
            <a:br/>
            <a:r>
              <a:t>  3. Generates cryptographic FDA/WHO compliance audit package.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IBM BoB &amp; watsonx.ai Granite 3.0 Integration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Load-Bearing Enterprise AI Embedded in the Operational Core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0F6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F62FE"/>
                </a:solidFill>
              </a:defRPr>
            </a:pPr>
            <a:r>
              <a:t>IBM BoB Copilot Interface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Load-bearing conversational assistant directly integrated into the Command Center. Ingests real-time state vectors and executes one-click carrier re-routes and fleet redeployment directives.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00F2FE"/>
                </a:solidFill>
              </a:defRPr>
            </a:pPr>
            <a:r>
              <a:t>watsonx.ai Granite 3.0-8b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Utilizes IBM's flagship enterprise LLM (ibm/granite-3-8b-instruct) for multi-echelon disruption analysis, maritime notice parsing, and regulatory risk scoring.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828800"/>
            <a:ext cx="3383280" cy="4114800"/>
          </a:xfrm>
          <a:prstGeom prst="roundRect">
            <a:avLst/>
          </a:prstGeom>
          <a:solidFill>
            <a:srgbClr val="131C31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201168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0B981"/>
                </a:solidFill>
              </a:defRPr>
            </a:pPr>
            <a:r>
              <a:t>Dual-Mode Operational Engine</a:t>
            </a:r>
          </a:p>
          <a:p>
            <a:pPr>
              <a:defRPr sz="1300">
                <a:solidFill>
                  <a:srgbClr val="FFFFFF"/>
                </a:solidFill>
              </a:defRPr>
            </a:pPr>
            <a:r>
              <a:t>Seamlessly interfaces with live IBM Cloud watsonx inference endpoints via IAM tokens while maintaining a zero-dependency local Granite reasoning emulator for offline evaluations.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Quantified Results &amp; Business Impact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Transforming Supply Chain Resiliency from Reactive to Autonomous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21208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2FE"/>
                </a:solidFill>
              </a:defRPr>
            </a:pPr>
            <a:r>
              <a:t>100%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Pre-Delivery Excursion Detection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Zero spoiled biologics arrive undetected at clinics; complete FDA 21 CFR Part 211 chain-of-custody compliance.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1208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92024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2FE"/>
                </a:solidFill>
              </a:defRPr>
            </a:pPr>
            <a:r>
              <a:t>4.5 Days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Average Transit Delay Saved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Dynamic Cape of Good Hope and air charter alternatives bypass congested choke points.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23360"/>
            <a:ext cx="521208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2FE"/>
                </a:solidFill>
              </a:defRPr>
            </a:pPr>
            <a:r>
              <a:t>+$1.2M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Cargo Value Salvaged per Incident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Rapid proximity-based reefer redeployment saves distressed high-value pharmaceutical consignments.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23360"/>
            <a:ext cx="5212080" cy="1920240"/>
          </a:xfrm>
          <a:prstGeom prst="roundRect">
            <a:avLst/>
          </a:prstGeom>
          <a:solidFill>
            <a:srgbClr val="131C31"/>
          </a:solidFill>
          <a:ln w="12700"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4114800"/>
            <a:ext cx="48463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00F2FE"/>
                </a:solidFill>
              </a:defRPr>
            </a:pPr>
            <a:r>
              <a:t>28%</a:t>
            </a:r>
          </a:p>
          <a:p>
            <a:pPr>
              <a:defRPr sz="1500" b="1">
                <a:solidFill>
                  <a:srgbClr val="FFFFFF"/>
                </a:solidFill>
              </a:defRPr>
            </a:pPr>
            <a:r>
              <a:t>Fleet Utilisation Increase</a:t>
            </a:r>
          </a:p>
          <a:p>
            <a:pPr>
              <a:defRPr sz="1200">
                <a:solidFill>
                  <a:srgbClr val="94A3B8"/>
                </a:solidFill>
              </a:defRPr>
            </a:pPr>
            <a:r>
              <a:t>Reduces container dwell time and eliminates capital-draining idle demurrage fees.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0D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Team Orion Squad &amp; Future Roadmap</a:t>
            </a:r>
          </a:p>
          <a:p>
            <a:pPr>
              <a:defRPr sz="1400">
                <a:solidFill>
                  <a:srgbClr val="00F2FE"/>
                </a:solidFill>
              </a:defRPr>
            </a:pPr>
            <a:r>
              <a:t>Built with Pride for the IBM BoB Hackathon 2026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5120640" cy="4114800"/>
          </a:xfrm>
          <a:prstGeom prst="roundRect">
            <a:avLst/>
          </a:prstGeom>
          <a:solidFill>
            <a:srgbClr val="131C31"/>
          </a:solidFill>
          <a:ln>
            <a:solidFill>
              <a:srgbClr val="00F2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00F2FE"/>
                </a:solidFill>
              </a:defRPr>
            </a:pPr>
            <a:r>
              <a:t>Team Orion Squad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• Tirth Gondaliya (Team Lead)</a:t>
            </a:r>
            <a:br/>
            <a:r>
              <a:t>  Architect, Backend Systems, Arrhenius Kinetics &amp; AI Integration</a:t>
            </a:r>
            <a:br/>
            <a:br/>
            <a:r>
              <a:t>• Alex Mercer</a:t>
            </a:r>
            <a:br/>
            <a:r>
              <a:t>  Frontend Engineering, Leaflet Geospatial UI &amp; Data Visualization</a:t>
            </a:r>
            <a:br/>
            <a:br/>
            <a:r>
              <a:t>• Priya Sharma</a:t>
            </a:r>
            <a:br/>
            <a:r>
              <a:t>  IBM watsonx.ai Prompt Engineering &amp; Regulatory Compliance (FDA/WHO)</a:t>
            </a:r>
            <a:br/>
            <a:br/>
            <a:r>
              <a:t>• David Kim</a:t>
            </a:r>
            <a:br/>
            <a:r>
              <a:t>  Fleet Telematics, Pytest Automation &amp; System Verification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828800"/>
            <a:ext cx="5212080" cy="4114800"/>
          </a:xfrm>
          <a:prstGeom prst="roundRect">
            <a:avLst/>
          </a:prstGeom>
          <a:solidFill>
            <a:srgbClr val="131C3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2011680"/>
            <a:ext cx="48463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0B981"/>
                </a:solidFill>
              </a:defRPr>
            </a:pPr>
            <a:r>
              <a:t>Production Roadmap Beyond Hackathon</a:t>
            </a:r>
          </a:p>
          <a:p>
            <a:pPr>
              <a:defRPr sz="1200">
                <a:solidFill>
                  <a:srgbClr val="FFFFFF"/>
                </a:solidFill>
              </a:defRPr>
            </a:pPr>
            <a:r>
              <a:t>1. Live AIS Satellite Vessel Tracking:</a:t>
            </a:r>
            <a:br/>
            <a:r>
              <a:t>   Integrate Spire / MarineTraffic APIs for real-time transponder telemetry.</a:t>
            </a:r>
            <a:br/>
            <a:br/>
            <a:r>
              <a:t>2. Direct Carrier EDI / API Booking:</a:t>
            </a:r>
            <a:br/>
            <a:r>
              <a:t>   Automate one-click booking submissions directly with Maersk, MSC, and FedEx.</a:t>
            </a:r>
            <a:br/>
            <a:br/>
            <a:r>
              <a:t>3. Edge IoT Cold Chain Enclaves:</a:t>
            </a:r>
            <a:br/>
            <a:r>
              <a:t>   Deploy IBM Edge Application Manager to run MKT Arrhenius calculations on-device inside reefer telematics hardware.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